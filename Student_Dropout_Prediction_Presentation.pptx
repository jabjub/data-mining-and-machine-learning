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88098" y="457200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A3B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B2CF"/>
                </a:solidFill>
                <a:latin typeface="Calibri"/>
              </a:rPr>
              <a:t>Data Mining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EEAD4"/>
                </a:solidFill>
                <a:latin typeface="Calibri"/>
              </a:rPr>
              <a:t>AN EXPLAINABLE ML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96012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Predicting Student Dropout</a:t>
            </a:r>
          </a:p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Before It </a:t>
            </a:r>
            <a:r>
              <a:rPr sz="4000" b="1">
                <a:solidFill>
                  <a:srgbClr val="5EEAD4"/>
                </a:solidFill>
                <a:latin typeface="Calibri"/>
              </a:rPr>
              <a:t>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AB4C8"/>
                </a:solidFill>
                <a:latin typeface="Calibri"/>
              </a:rPr>
              <a:t>A leakage-safe, nested cross-validated benchmark of five classifiers and three imbalance strategies — built to flag at-risk students early, and to explain why a student is at risk, not just that they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Slim Jabou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58064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Klajdi Barci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58064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9AA5B5"/>
                </a:solidFill>
                <a:latin typeface="Calibri"/>
              </a:rPr>
              <a:t>Student Dropout Prediction Project</a:t>
            </a:r>
          </a:p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9AA5B5"/>
                </a:solidFill>
                <a:latin typeface="Calibri"/>
              </a:rPr>
              <a:t>Data Mining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EEAD4"/>
                </a:solidFill>
                <a:latin typeface="Calibri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 i="0">
                <a:solidFill>
                  <a:srgbClr val="16324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Challenge &amp;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C"/>
                </a:solidFill>
                <a:latin typeface="Calibri"/>
              </a:rPr>
              <a:t>Why dropout is expensive to miss, what the raw data looks like, and the early warning signals that surface before a single model is trained.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989320"/>
            <a:ext cx="2602153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16553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147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03741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One in Three Students Never Finishes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481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54627A"/>
                </a:solidFill>
                <a:latin typeface="Calibri"/>
              </a:rPr>
              <a:t>Dropout is not a rare edge case in this population  it is the single most common non-graduating outcome, which makes early, reliable detection a high-leverage intervention point for any institution.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01 ·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03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291840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E0463B"/>
                </a:solidFill>
                <a:latin typeface="Calibri"/>
              </a:rPr>
              <a:t>32.1%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414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of students in the dataset dropped out (1,421 of 4,424)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74519"/>
            <a:ext cx="3291840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98424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766E"/>
                </a:solidFill>
                <a:latin typeface="Calibri"/>
              </a:rPr>
              <a:t>67.9%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414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stayed enrolled or graduated — the majority class the model must not simply default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39"/>
            <a:ext cx="6675120" cy="17272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1150" dirty="0">
                <a:solidFill>
                  <a:srgbClr val="0D9488"/>
                </a:solidFill>
                <a:latin typeface="Calibri"/>
              </a:rPr>
              <a:t>■  </a:t>
            </a:r>
            <a:r>
              <a:rPr sz="1350" b="1" dirty="0">
                <a:solidFill>
                  <a:srgbClr val="1E293B"/>
                </a:solidFill>
                <a:latin typeface="Calibri"/>
              </a:rPr>
              <a:t>The cost of missing a dropout</a:t>
            </a:r>
            <a:r>
              <a:rPr sz="1350" b="0" dirty="0">
                <a:solidFill>
                  <a:srgbClr val="1E293B"/>
                </a:solidFill>
                <a:latin typeface="Calibri"/>
              </a:rPr>
              <a:t> is a lost student, lost tuition, and a lost outcome that follow-up support could plausibly have prevented.</a:t>
            </a:r>
          </a:p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1150" dirty="0">
                <a:solidFill>
                  <a:srgbClr val="0D9488"/>
                </a:solidFill>
                <a:latin typeface="Calibri"/>
              </a:rPr>
              <a:t>■  </a:t>
            </a:r>
            <a:r>
              <a:rPr sz="1350" b="1" dirty="0">
                <a:solidFill>
                  <a:srgbClr val="1E293B"/>
                </a:solidFill>
                <a:latin typeface="Calibri"/>
              </a:rPr>
              <a:t>The cost of a false alarm</a:t>
            </a:r>
            <a:r>
              <a:rPr sz="1350" b="0" dirty="0">
                <a:solidFill>
                  <a:srgbClr val="1E293B"/>
                </a:solidFill>
                <a:latin typeface="Calibri"/>
              </a:rPr>
              <a:t> is a wasted advising conversation — cheap by comparison. This asymmetry shapes every modeling choice that follows.</a:t>
            </a:r>
          </a:p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1150" dirty="0">
                <a:solidFill>
                  <a:srgbClr val="0D9488"/>
                </a:solidFill>
                <a:latin typeface="Calibri"/>
              </a:rPr>
              <a:t>■  </a:t>
            </a:r>
            <a:r>
              <a:rPr sz="1350" b="0" dirty="0">
                <a:solidFill>
                  <a:srgbClr val="1E293B"/>
                </a:solidFill>
                <a:latin typeface="Calibri"/>
              </a:rPr>
              <a:t>Framed this way, the project goal is not “classify students” —it's </a:t>
            </a:r>
            <a:r>
              <a:rPr sz="1350" b="1" dirty="0">
                <a:solidFill>
                  <a:srgbClr val="1E293B"/>
                </a:solidFill>
                <a:latin typeface="Calibri"/>
              </a:rPr>
              <a:t>rank students by risk early enough to act</a:t>
            </a:r>
            <a:r>
              <a:rPr sz="135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874519"/>
            <a:ext cx="3840480" cy="178447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1929384"/>
            <a:ext cx="3730752" cy="16747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80960" y="3713855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4627A"/>
                </a:solidFill>
                <a:latin typeface="Calibri"/>
              </a:rPr>
              <a:t>Fig. 1 — Binary target distribution after reformulation. Class imbalance (~2:1) is the first design constraint the pipeline must handle correctly.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36 Signals Collected at Enrollment &amp; Two Semesters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01 · 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4,424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students, Polytechnic Institute of Portalegre, Portugal (UCI ID 697)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6543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9423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usable features: demographic, socio-economic, macro-economic &amp; academic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0167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undergraduate programmes, coded as a categorical “Course” feature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8031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20911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0911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missing values — the raw data was clean out of the 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51760"/>
            <a:ext cx="5272887" cy="3566160"/>
          </a:xfrm>
          <a:prstGeom prst="roundRect">
            <a:avLst>
              <a:gd name="adj" fmla="val 35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834640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Target reformulation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291839"/>
            <a:ext cx="139186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401568"/>
            <a:ext cx="13918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</a:rPr>
              <a:t>Graduate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599"/>
            <a:ext cx="13918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4627A"/>
                </a:solidFill>
                <a:latin typeface="Calibri"/>
              </a:rPr>
              <a:t>49.9%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6269" y="347472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54627A"/>
                </a:solidFill>
                <a:latin typeface="Calibri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26309" y="3291839"/>
            <a:ext cx="139186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26309" y="3401568"/>
            <a:ext cx="13918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</a:rPr>
              <a:t>Enrolled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6309" y="3657599"/>
            <a:ext cx="13918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4627A"/>
                </a:solidFill>
                <a:latin typeface="Calibri"/>
              </a:rPr>
              <a:t>17.9%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8178" y="347472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54627A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218" y="3291839"/>
            <a:ext cx="1391869" cy="640080"/>
          </a:xfrm>
          <a:prstGeom prst="roundRect">
            <a:avLst>
              <a:gd name="adj" fmla="val 12000"/>
            </a:avLst>
          </a:prstGeom>
          <a:solidFill>
            <a:srgbClr val="E6F7F3"/>
          </a:solidFill>
          <a:ln w="19050">
            <a:solidFill>
              <a:srgbClr val="B8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38218" y="3401568"/>
            <a:ext cx="13918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Non-Dropout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8218" y="3657599"/>
            <a:ext cx="13918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0F766E"/>
                </a:solidFill>
                <a:latin typeface="Calibri"/>
              </a:rPr>
              <a:t>67.9%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069079"/>
            <a:ext cx="1391869" cy="640080"/>
          </a:xfrm>
          <a:prstGeom prst="roundRect">
            <a:avLst>
              <a:gd name="adj" fmla="val 12000"/>
            </a:avLst>
          </a:prstGeom>
          <a:solidFill>
            <a:srgbClr val="FDECEB"/>
          </a:solidFill>
          <a:ln w="12700">
            <a:solidFill>
              <a:srgbClr val="F7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178807"/>
            <a:ext cx="13918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E0463B"/>
                </a:solidFill>
                <a:latin typeface="Calibri"/>
              </a:rPr>
              <a:t>Dropout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434840"/>
            <a:ext cx="13918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E0463B"/>
                </a:solidFill>
                <a:latin typeface="Calibri"/>
              </a:rPr>
              <a:t>32.1%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6269" y="4251959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54627A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26309" y="4069079"/>
            <a:ext cx="1391869" cy="640080"/>
          </a:xfrm>
          <a:prstGeom prst="roundRect">
            <a:avLst>
              <a:gd name="adj" fmla="val 12000"/>
            </a:avLst>
          </a:prstGeom>
          <a:solidFill>
            <a:srgbClr val="FDECEB"/>
          </a:solidFill>
          <a:ln w="12700">
            <a:solidFill>
              <a:srgbClr val="F7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26309" y="4160519"/>
            <a:ext cx="13918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E0463B"/>
                </a:solidFill>
                <a:latin typeface="Calibri"/>
              </a:rPr>
              <a:t>Dropout (1)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6309" y="4416551"/>
            <a:ext cx="13918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E0463B"/>
                </a:solidFill>
                <a:latin typeface="Calibri"/>
              </a:rPr>
              <a:t>intervention 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983479"/>
            <a:ext cx="472424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The original 3-class label (Graduate / Enrolled / Dropout) is collapsed to binary. The goal is distinguishing at-risk students from everyone else.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3007" y="2651760"/>
            <a:ext cx="5272887" cy="3566160"/>
          </a:xfrm>
          <a:prstGeom prst="roundRect">
            <a:avLst>
              <a:gd name="adj" fmla="val 35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61607" y="2834640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Feature families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1607" y="3246120"/>
            <a:ext cx="4815687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720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1">
                <a:solidFill>
                  <a:srgbClr val="1E293B"/>
                </a:solidFill>
                <a:latin typeface="Calibri"/>
              </a:rPr>
              <a:t>Academic record</a:t>
            </a:r>
            <a:r>
              <a:rPr sz="1100" b="0">
                <a:solidFill>
                  <a:srgbClr val="1E293B"/>
                </a:solidFill>
                <a:latin typeface="Calibri"/>
              </a:rPr>
              <a:t> — units credited / enrolled / evaluated / approved / graded, for both 1st and 2nd semester</a:t>
            </a:r>
          </a:p>
          <a:p>
            <a:pPr>
              <a:lnSpc>
                <a:spcPct val="115000"/>
              </a:lnSpc>
              <a:spcAft>
                <a:spcPts val="720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1">
                <a:solidFill>
                  <a:srgbClr val="1E293B"/>
                </a:solidFill>
                <a:latin typeface="Calibri"/>
              </a:rPr>
              <a:t>Socio-economic</a:t>
            </a:r>
            <a:r>
              <a:rPr sz="1100" b="0">
                <a:solidFill>
                  <a:srgbClr val="1E293B"/>
                </a:solidFill>
                <a:latin typeface="Calibri"/>
              </a:rPr>
              <a:t> — scholarship, debtor status, tuition payment status, parental occupation &amp; qualification</a:t>
            </a:r>
          </a:p>
          <a:p>
            <a:pPr>
              <a:lnSpc>
                <a:spcPct val="115000"/>
              </a:lnSpc>
              <a:spcAft>
                <a:spcPts val="720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1">
                <a:solidFill>
                  <a:srgbClr val="1E293B"/>
                </a:solidFill>
                <a:latin typeface="Calibri"/>
              </a:rPr>
              <a:t>Demographic</a:t>
            </a:r>
            <a:r>
              <a:rPr sz="1100" b="0">
                <a:solidFill>
                  <a:srgbClr val="1E293B"/>
                </a:solidFill>
                <a:latin typeface="Calibri"/>
              </a:rPr>
              <a:t> — age at enrollment, gender, marital status, displacement, special needs</a:t>
            </a:r>
          </a:p>
          <a:p>
            <a:pPr>
              <a:lnSpc>
                <a:spcPct val="115000"/>
              </a:lnSpc>
              <a:spcAft>
                <a:spcPts val="720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1">
                <a:solidFill>
                  <a:srgbClr val="1E293B"/>
                </a:solidFill>
                <a:latin typeface="Calibri"/>
              </a:rPr>
              <a:t>Macro-economic</a:t>
            </a:r>
            <a:r>
              <a:rPr sz="1100" b="0">
                <a:solidFill>
                  <a:srgbClr val="1E293B"/>
                </a:solidFill>
                <a:latin typeface="Calibri"/>
              </a:rPr>
              <a:t> — regional unemployment rate, inflation, GDP at time of enrollment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1607" y="5394959"/>
            <a:ext cx="481568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The framework also supports an early-intervention mode that drops 2nd-semester columns entirely. Results shown here use the full-year feature set for maximum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EXPLORATORY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Money Problems Predict Dropout Better Than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Before any model is trained, simple group-by dropout rates already reveal which levers matter — and which barely move the needle.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01 ·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05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5486400" cy="295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_categorical_dropout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29384"/>
            <a:ext cx="5376672" cy="2847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88686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Fig. 2 — Dropout rate split by binary/categorical feature (0 vs 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05937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40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E0463B"/>
                </a:solidFill>
                <a:latin typeface="Calibri"/>
              </a:rPr>
              <a:t>2.2×  </a:t>
            </a:r>
            <a:r>
              <a:rPr sz="1300" b="0">
                <a:solidFill>
                  <a:srgbClr val="1E293B"/>
                </a:solidFill>
                <a:latin typeface="Calibri"/>
              </a:rPr>
              <a:t>Students with unpaid debts drop out at </a:t>
            </a:r>
            <a:r>
              <a:rPr sz="1300" b="1">
                <a:solidFill>
                  <a:srgbClr val="1E293B"/>
                </a:solidFill>
                <a:latin typeface="Calibri"/>
              </a:rPr>
              <a:t>62.0%</a:t>
            </a:r>
            <a:r>
              <a:rPr sz="1300" b="0">
                <a:solidFill>
                  <a:srgbClr val="1E293B"/>
                </a:solidFill>
                <a:latin typeface="Calibri"/>
              </a:rPr>
              <a:t> vs </a:t>
            </a:r>
            <a:r>
              <a:rPr sz="1300" b="1">
                <a:solidFill>
                  <a:srgbClr val="1E293B"/>
                </a:solidFill>
                <a:latin typeface="Calibri"/>
              </a:rPr>
              <a:t>28.3%</a:t>
            </a:r>
            <a:r>
              <a:rPr sz="1300" b="0">
                <a:solidFill>
                  <a:srgbClr val="1E293B"/>
                </a:solidFill>
                <a:latin typeface="Calibri"/>
              </a:rPr>
              <a:t> for those without.</a:t>
            </a:r>
          </a:p>
          <a:p>
            <a:pPr>
              <a:lnSpc>
                <a:spcPct val="120000"/>
              </a:lnSpc>
              <a:spcAft>
                <a:spcPts val="1440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E0463B"/>
                </a:solidFill>
                <a:latin typeface="Calibri"/>
              </a:rPr>
              <a:t>3.5×  </a:t>
            </a:r>
            <a:r>
              <a:rPr sz="1300" b="0">
                <a:solidFill>
                  <a:srgbClr val="1E293B"/>
                </a:solidFill>
                <a:latin typeface="Calibri"/>
              </a:rPr>
              <a:t>Falling behind on </a:t>
            </a:r>
            <a:r>
              <a:rPr sz="1300" b="1">
                <a:solidFill>
                  <a:srgbClr val="1E293B"/>
                </a:solidFill>
                <a:latin typeface="Calibri"/>
              </a:rPr>
              <a:t>tuition fees</a:t>
            </a:r>
            <a:r>
              <a:rPr sz="1300" b="0">
                <a:solidFill>
                  <a:srgbClr val="1E293B"/>
                </a:solidFill>
                <a:latin typeface="Calibri"/>
              </a:rPr>
              <a:t> flips dropout risk from </a:t>
            </a:r>
            <a:r>
              <a:rPr sz="1300" b="1">
                <a:solidFill>
                  <a:srgbClr val="1E293B"/>
                </a:solidFill>
                <a:latin typeface="Calibri"/>
              </a:rPr>
              <a:t>24.7%</a:t>
            </a:r>
            <a:r>
              <a:rPr sz="1300" b="0">
                <a:solidFill>
                  <a:srgbClr val="1E293B"/>
                </a:solidFill>
                <a:latin typeface="Calibri"/>
              </a:rPr>
              <a:t> to </a:t>
            </a:r>
            <a:r>
              <a:rPr sz="1300" b="1">
                <a:solidFill>
                  <a:srgbClr val="1E293B"/>
                </a:solidFill>
                <a:latin typeface="Calibri"/>
              </a:rPr>
              <a:t>86.6%</a:t>
            </a:r>
            <a:r>
              <a:rPr sz="1300" b="0">
                <a:solidFill>
                  <a:srgbClr val="1E293B"/>
                </a:solidFill>
                <a:latin typeface="Calibri"/>
              </a:rPr>
              <a:t> — the single starkest split in the dataset.</a:t>
            </a:r>
          </a:p>
          <a:p>
            <a:pPr>
              <a:lnSpc>
                <a:spcPct val="120000"/>
              </a:lnSpc>
              <a:spcAft>
                <a:spcPts val="1440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0F766E"/>
                </a:solidFill>
                <a:latin typeface="Calibri"/>
              </a:rPr>
              <a:t>3.2×  </a:t>
            </a:r>
            <a:r>
              <a:rPr sz="1300" b="1">
                <a:solidFill>
                  <a:srgbClr val="1E293B"/>
                </a:solidFill>
                <a:latin typeface="Calibri"/>
              </a:rPr>
              <a:t>Scholarship holders</a:t>
            </a:r>
            <a:r>
              <a:rPr sz="1300" b="0">
                <a:solidFill>
                  <a:srgbClr val="1E293B"/>
                </a:solidFill>
                <a:latin typeface="Calibri"/>
              </a:rPr>
              <a:t> drop out at only </a:t>
            </a:r>
            <a:r>
              <a:rPr sz="1300" b="1">
                <a:solidFill>
                  <a:srgbClr val="1E293B"/>
                </a:solidFill>
                <a:latin typeface="Calibri"/>
              </a:rPr>
              <a:t>12.2%</a:t>
            </a:r>
            <a:r>
              <a:rPr sz="1300" b="0">
                <a:solidFill>
                  <a:srgbClr val="1E293B"/>
                </a:solidFill>
                <a:latin typeface="Calibri"/>
              </a:rPr>
              <a:t> vs </a:t>
            </a:r>
            <a:r>
              <a:rPr sz="1300" b="1">
                <a:solidFill>
                  <a:srgbClr val="1E293B"/>
                </a:solidFill>
                <a:latin typeface="Calibri"/>
              </a:rPr>
              <a:t>38.7%</a:t>
            </a:r>
            <a:r>
              <a:rPr sz="1300" b="0">
                <a:solidFill>
                  <a:srgbClr val="1E293B"/>
                </a:solidFill>
                <a:latin typeface="Calibri"/>
              </a:rPr>
              <a:t> for non-holders — financial support works.</a:t>
            </a:r>
          </a:p>
          <a:p>
            <a:pPr>
              <a:lnSpc>
                <a:spcPct val="120000"/>
              </a:lnSpc>
              <a:spcAft>
                <a:spcPts val="1440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2563EB"/>
                </a:solidFill>
                <a:latin typeface="Calibri"/>
              </a:rPr>
              <a:t>Weaker  </a:t>
            </a:r>
            <a:r>
              <a:rPr sz="1300" b="0">
                <a:solidFill>
                  <a:srgbClr val="1E293B"/>
                </a:solidFill>
                <a:latin typeface="Calibri"/>
              </a:rPr>
              <a:t>Gender, displacement and international status shift risk by only a few points — they are not where the signal lives.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709160"/>
            <a:ext cx="5059375" cy="12344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4846320"/>
            <a:ext cx="46936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166360"/>
            <a:ext cx="46936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4627A"/>
                </a:solidFill>
                <a:latin typeface="Calibri"/>
              </a:rPr>
              <a:t>Financial precarity — debt, unpaid fees, absent scholarship — is a far stronger early-warning signal than who the student is. This foreshadows what SHAP later confirms independently.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EXPLORATORY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Academic Momentum Separates the Two Groups Cleanly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Curricular-unit completion in the very first semester already shows a large, visible gap between students who stay and students who leave.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01 ·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06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6309360" cy="33948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29384"/>
            <a:ext cx="6199632" cy="32851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3242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Fig. 3 — Key numeric features split by class (green = non-dropout, red = dropout).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965960"/>
            <a:ext cx="423641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Units approved, 1st semester:</a:t>
            </a:r>
            <a:r>
              <a:rPr sz="1300" b="0">
                <a:solidFill>
                  <a:srgbClr val="1E293B"/>
                </a:solidFill>
                <a:latin typeface="Calibri"/>
              </a:rPr>
              <a:t> dropout students cluster near </a:t>
            </a:r>
            <a:r>
              <a:rPr sz="1300" b="1">
                <a:solidFill>
                  <a:srgbClr val="1E293B"/>
                </a:solidFill>
                <a:latin typeface="Calibri"/>
              </a:rPr>
              <a:t>0–4</a:t>
            </a:r>
            <a:r>
              <a:rPr sz="1300" b="0">
                <a:solidFill>
                  <a:srgbClr val="1E293B"/>
                </a:solidFill>
                <a:latin typeface="Calibri"/>
              </a:rPr>
              <a:t> approved units; non-dropout students cluster near </a:t>
            </a:r>
            <a:r>
              <a:rPr sz="1300" b="1">
                <a:solidFill>
                  <a:srgbClr val="1E293B"/>
                </a:solidFill>
                <a:latin typeface="Calibri"/>
              </a:rPr>
              <a:t>5–7</a:t>
            </a:r>
            <a:r>
              <a:rPr sz="1300" b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Grade, 1st semester:</a:t>
            </a:r>
            <a:r>
              <a:rPr sz="1300" b="0">
                <a:solidFill>
                  <a:srgbClr val="1E293B"/>
                </a:solidFill>
                <a:latin typeface="Calibri"/>
              </a:rPr>
              <a:t> dropout distribution collapses toward </a:t>
            </a:r>
            <a:r>
              <a:rPr sz="1300" b="1">
                <a:solidFill>
                  <a:srgbClr val="1E293B"/>
                </a:solidFill>
                <a:latin typeface="Calibri"/>
              </a:rPr>
              <a:t>0</a:t>
            </a:r>
            <a:r>
              <a:rPr sz="1300" b="0">
                <a:solidFill>
                  <a:srgbClr val="1E293B"/>
                </a:solidFill>
                <a:latin typeface="Calibri"/>
              </a:rPr>
              <a:t> for a large sub-group — consistent with early disengagement, not just weak performance.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Age at enrollment:</a:t>
            </a:r>
            <a:r>
              <a:rPr sz="1300" b="0">
                <a:solidFill>
                  <a:srgbClr val="1E293B"/>
                </a:solidFill>
                <a:latin typeface="Calibri"/>
              </a:rPr>
              <a:t> dropout students skew slightly older and more spread out (median ≈23 vs ≈20), hinting at non-traditional students juggling more constraints.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0">
                <a:solidFill>
                  <a:srgbClr val="1E293B"/>
                </a:solidFill>
                <a:latin typeface="Calibri"/>
              </a:rPr>
              <a:t>Enrollment and evaluation counts are similar across classes — it's </a:t>
            </a:r>
            <a:r>
              <a:rPr sz="1300" b="1">
                <a:solidFill>
                  <a:srgbClr val="1E293B"/>
                </a:solidFill>
                <a:latin typeface="Calibri"/>
              </a:rPr>
              <a:t>completion</a:t>
            </a:r>
            <a:r>
              <a:rPr sz="1300" b="0">
                <a:solidFill>
                  <a:srgbClr val="1E293B"/>
                </a:solidFill>
                <a:latin typeface="Calibri"/>
              </a:rPr>
              <a:t>, not </a:t>
            </a:r>
            <a:r>
              <a:rPr sz="1300" b="1">
                <a:solidFill>
                  <a:srgbClr val="1E293B"/>
                </a:solidFill>
                <a:latin typeface="Calibri"/>
              </a:rPr>
              <a:t>attempt</a:t>
            </a:r>
            <a:r>
              <a:rPr sz="1300" b="0">
                <a:solidFill>
                  <a:srgbClr val="1E293B"/>
                </a:solidFill>
                <a:latin typeface="Calibri"/>
              </a:rPr>
              <a:t>, that differentiates.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EEAD4"/>
                </a:solidFill>
                <a:latin typeface="Calibri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 i="0">
                <a:solidFill>
                  <a:srgbClr val="16324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C"/>
                </a:solidFill>
                <a:latin typeface="Calibri"/>
              </a:rPr>
              <a:t>A leakage-safe pipeline, three ways of handling imbalance, and a nested cross-validation design built specifically to avoid reporting an optimistic, overfit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16553" y="5989320"/>
            <a:ext cx="2602153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147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03741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One Pipeline Object, Zero 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Every step — scaling, encoding, resampling, and the classifier itself — lives inside a single scikit-learn / imbalanced-learn Pipeline, fit fresh on every fold.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02 ·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08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20030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39112"/>
            <a:ext cx="18567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Raw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77439"/>
            <a:ext cx="18567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4627A"/>
                </a:solidFill>
                <a:latin typeface="Calibri"/>
              </a:rPr>
              <a:t>35 cols · 4,424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884" y="2167127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0052" y="1874519"/>
            <a:ext cx="20030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63204" y="2039112"/>
            <a:ext cx="18567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StandardScaler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3204" y="2377439"/>
            <a:ext cx="18567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4627A"/>
                </a:solidFill>
                <a:latin typeface="Calibri"/>
              </a:rPr>
              <a:t>27 numeric / binary cols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3137" y="2167127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4305" y="1874519"/>
            <a:ext cx="20030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7457" y="2039112"/>
            <a:ext cx="18567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One-Hot Encode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7457" y="2377439"/>
            <a:ext cx="18567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4627A"/>
                </a:solidFill>
                <a:latin typeface="Calibri"/>
              </a:rPr>
              <a:t>8 categorical cols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7389" y="2167127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8557" y="1874519"/>
            <a:ext cx="2003084" cy="914400"/>
          </a:xfrm>
          <a:prstGeom prst="roundRect">
            <a:avLst>
              <a:gd name="adj" fmla="val 10000"/>
            </a:avLst>
          </a:prstGeom>
          <a:solidFill>
            <a:srgbClr val="E6F7F3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1709" y="2039112"/>
            <a:ext cx="18567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F766E"/>
                </a:solidFill>
                <a:latin typeface="Calibri"/>
              </a:rPr>
              <a:t>Imbalance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709" y="2377439"/>
            <a:ext cx="18567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0F766E"/>
                </a:solidFill>
                <a:latin typeface="Calibri"/>
              </a:rPr>
              <a:t>baseline / class_weight / SMOTE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1642" y="2167127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2810" y="1874519"/>
            <a:ext cx="200308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75962" y="2039112"/>
            <a:ext cx="18567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Classifier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5962" y="2377439"/>
            <a:ext cx="18567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4627A"/>
                </a:solidFill>
                <a:latin typeface="Calibri"/>
              </a:rPr>
              <a:t>LR · RF · AdaBoost · KNN · NB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063239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209544"/>
            <a:ext cx="308853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WHY IT MATTERS #1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538727"/>
            <a:ext cx="30885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The scaler and one-hot encoder are fit only on the training fold — the ColumnTransformer's fit/transform split enforces this automatically, so test-fold statistics never leak into training.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8698" y="3063239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51578" y="3209544"/>
            <a:ext cx="308853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WHY IT MATTERS #2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1578" y="3538727"/>
            <a:ext cx="30885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SMOTE sits inside the pipeline, after encoding. Pipeline.predict() never invokes the resampler — synthetic rows exist only during .fit(), so the validation fold is always 100% real students.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1596" y="3063239"/>
            <a:ext cx="3454298" cy="17373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34476" y="3209544"/>
            <a:ext cx="308853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WHY IT MATTERS #3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4476" y="3538727"/>
            <a:ext cx="30885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SMOTE runs after one-hot encoding, so every dimension is already numeric — standard SMOTE behaves correctly without needing a categorical-aware variant (SMOTE-NC).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HANDLING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Three Ways to Tell the Model “Dropout Matters More”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With a 68/32 split, a lazy model can score 68% accuracy by predicting “non-dropout” every time. Three strategies were benchmarked head-to-head to see which is actually necessary.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02 ·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09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454298" cy="19659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20391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CDD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Calibri"/>
              </a:rPr>
              <a:t>STRATEGY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308853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No intervention at all. The classifier sees the natural 68/32 split and learns from it as-is.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627A"/>
                </a:solidFill>
                <a:latin typeface="Calibri"/>
              </a:rPr>
              <a:t>Simplest possible option — the control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698" y="1874519"/>
            <a:ext cx="3454298" cy="19659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51578" y="20391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DF1E0"/>
          </a:solidFill>
          <a:ln w="12700">
            <a:solidFill>
              <a:srgbClr val="F8DC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D97706"/>
                </a:solidFill>
                <a:latin typeface="Calibri"/>
              </a:rPr>
              <a:t>STRATEGY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24048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class_weight="balanced"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2788920"/>
            <a:ext cx="308853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Misclassifying a dropout is penalised more heavily during training — no new rows, just re-weighted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3429000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627A"/>
                </a:solidFill>
                <a:latin typeface="Calibri"/>
              </a:rPr>
              <a:t>Available for Logistic Regression, Random Forest, and AdaBoost's base tree.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1596" y="1874519"/>
            <a:ext cx="3454298" cy="19659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34476" y="20391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DECEB"/>
          </a:solidFill>
          <a:ln w="12700">
            <a:solidFill>
              <a:srgbClr val="F7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E0463B"/>
                </a:solidFill>
                <a:latin typeface="Calibri"/>
              </a:rPr>
              <a:t>STRATEGY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4476" y="24048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SMOTE Oversampling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4476" y="2788920"/>
            <a:ext cx="308853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Synthetic minority-class students are interpolated between real dropout neighbours, rebalancing the training fold.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4476" y="3429000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627A"/>
                </a:solidFill>
                <a:latin typeface="Calibri"/>
              </a:rPr>
              <a:t>Applied inside the pipeline, after encoding, training-fold only.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23360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42231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SPOILER, CONFIRMED LATER BY THE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348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For the winning model, plain </a:t>
            </a:r>
            <a:r>
              <a:rPr sz="1100" b="1">
                <a:solidFill>
                  <a:srgbClr val="1E293B"/>
                </a:solidFill>
                <a:latin typeface="Calibri"/>
              </a:rPr>
              <a:t>baseline</a:t>
            </a:r>
            <a:r>
              <a:rPr sz="1100" b="0">
                <a:solidFill>
                  <a:srgbClr val="1E293B"/>
                </a:solidFill>
                <a:latin typeface="Calibri"/>
              </a:rPr>
              <a:t> narrowly beat both </a:t>
            </a:r>
            <a:r>
              <a:rPr sz="1100" b="1">
                <a:solidFill>
                  <a:srgbClr val="1E293B"/>
                </a:solidFill>
                <a:latin typeface="Calibri"/>
              </a:rPr>
              <a:t>class_weight</a:t>
            </a:r>
            <a:r>
              <a:rPr sz="1100" b="0">
                <a:solidFill>
                  <a:srgbClr val="1E293B"/>
                </a:solidFill>
                <a:latin typeface="Calibri"/>
              </a:rPr>
              <a:t> and </a:t>
            </a:r>
            <a:r>
              <a:rPr sz="1100" b="1">
                <a:solidFill>
                  <a:srgbClr val="1E293B"/>
                </a:solidFill>
                <a:latin typeface="Calibri"/>
              </a:rPr>
              <a:t>SMOTE</a:t>
            </a:r>
            <a:r>
              <a:rPr sz="1100" b="0">
                <a:solidFill>
                  <a:srgbClr val="1E293B"/>
                </a:solidFill>
                <a:latin typeface="Calibri"/>
              </a:rPr>
              <a:t> — the imbalance here (32%) is mild enough that a well-regularised linear model doesn't need correcting.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VALIDATION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Nested Cross-Validation: Tuning and Scoring Never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A single CV loop used for both hyperparameter search and performance reporting is optimistic by construction. Nested CV separates the two concerns.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02 ·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10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272887" cy="23317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22225">
            <a:solidFill>
              <a:srgbClr val="B8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20824"/>
            <a:ext cx="49071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F766E"/>
                </a:solidFill>
                <a:latin typeface="Calibri"/>
              </a:rPr>
              <a:t>OUTER LOOP — STRATIFIED 5-FOLD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39"/>
            <a:ext cx="490712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Produces an honest, out-of-sample estimate of how the selected model generalises. Stratification keeps the 32% dropout ratio consistent in every fold, avoiding unstable splits.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46120"/>
            <a:ext cx="4907127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766E"/>
                </a:solidFill>
                <a:latin typeface="Calibri"/>
              </a:rPr>
              <a:t>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355848"/>
            <a:ext cx="353552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held-out test folds, each scored once by a model that never saw those rows in training or tuning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874519"/>
            <a:ext cx="5272887" cy="23317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5887" y="2020824"/>
            <a:ext cx="49071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INNER LOOP — STRATIFIED 3-FOLD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377439"/>
            <a:ext cx="490712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Runs only inside each outer training fold to pick hyperparameters — via RandomizedSearchCV (30 draws), later refined with GridSearchCV around the two strongest candidates.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5887" y="3246120"/>
            <a:ext cx="4907127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98767" y="33192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6047" y="3355848"/>
            <a:ext cx="34440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inner folds per outer fold, scored on F1 for the Dropout 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89120"/>
            <a:ext cx="10820095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AAB4C8"/>
                </a:solidFill>
                <a:latin typeface="Calibri"/>
              </a:rPr>
              <a:t>NET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Every reported metric is a true out-of-fold prediction — the model never grades its own homework.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THE EXPERIMENTAL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Screen Wide, Then Refine the Leaders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02 ·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candidate classifiers in the framework's search space: LR, Random Forest, AdaBoost, KNN, Naive Bayes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6543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9423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valid model × strategy pipelines the framework can benchmark (KNN / Naive Bayes skip class_weight)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0167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finalists carried into the reported benchmark: Logistic Regression, Random Forest, AdaBoost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8031" y="1417320"/>
            <a:ext cx="2567863" cy="105156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20911" y="1527048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0911" y="1984248"/>
            <a:ext cx="2202103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nested-CV fits reported: 9 pipelines × 5 outer folds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97480"/>
            <a:ext cx="5272887" cy="246888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862072"/>
            <a:ext cx="49071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Pass 1 — Screen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490712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 RandomizedSearchCV sweep (30 draws per pipeline) is used to screen the full candidate pool under nested CV — cheap enough to cover every model × strategy combination.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60520"/>
            <a:ext cx="490712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Outcome baked into the project config: KNN and Naive Bayes trail clearly behind and are dropped; Logistic Regression, AdaBoost and Random Forest move forward.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2697480"/>
            <a:ext cx="5272887" cy="246888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5887" y="2862072"/>
            <a:ext cx="49071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Pass 2 — Refine &amp;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3246120"/>
            <a:ext cx="490712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GridSearchCV then exhaustively tunes the two strongest linear/ensemble finalists — Logistic Regression (C, solver) and AdaBoost (n_estimators, learning_rate) — with Random Forest kept as a fixed-hyperparameter benchmark.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4251960"/>
            <a:ext cx="490712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Every result from this point forward comes from this refined, 9-pipeline nested-CV pass.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EEAD4"/>
                </a:solidFill>
                <a:latin typeface="Calibri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 i="0">
                <a:solidFill>
                  <a:srgbClr val="16324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C"/>
                </a:solidFill>
                <a:latin typeface="Calibri"/>
              </a:rPr>
              <a:t>Nine pipelines, five outer folds, one clear — and statistically honest — winner.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16553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147" y="5989320"/>
            <a:ext cx="2602153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03741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THE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Logistic Regression, Untouched by Resampling,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Mean F1-score on the Dropout class across all 5 outer folds, ± one standard deviation.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03 ·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13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6309360" cy="272575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odel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29384"/>
            <a:ext cx="6199632" cy="26160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655141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Fig. 4 — Nested CV model comparison, ranked by mean F1-Dropout.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1874519"/>
            <a:ext cx="4236415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69480" y="1874519"/>
            <a:ext cx="4236415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1993391"/>
            <a:ext cx="3779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FF3EE"/>
                </a:solidFill>
                <a:latin typeface="Calibri"/>
              </a:rPr>
              <a:t>WINNING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221991"/>
            <a:ext cx="3779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496312"/>
            <a:ext cx="3779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FF3EE"/>
                </a:solidFill>
                <a:latin typeface="Calibri"/>
              </a:rPr>
              <a:t>+ baseline (no resampling)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926079"/>
            <a:ext cx="2026767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3035808"/>
            <a:ext cx="1661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766E"/>
                </a:solidFill>
                <a:latin typeface="Calibri"/>
              </a:rPr>
              <a:t>0.800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493008"/>
            <a:ext cx="1661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F1-Dropout (±0.021) — best of all 9 pipelines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79127" y="2926079"/>
            <a:ext cx="2026767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62007" y="3035808"/>
            <a:ext cx="1661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766E"/>
                </a:solidFill>
                <a:latin typeface="Calibri"/>
              </a:rPr>
              <a:t>0.922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2007" y="3493008"/>
            <a:ext cx="1661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ROC-AUC (±0.010) — also the single best 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069079"/>
            <a:ext cx="423641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96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1">
                <a:solidFill>
                  <a:srgbClr val="1E293B"/>
                </a:solidFill>
                <a:latin typeface="Calibri"/>
              </a:rPr>
              <a:t>All three Logistic Regression</a:t>
            </a:r>
            <a:r>
              <a:rPr sz="1200" b="0">
                <a:solidFill>
                  <a:srgbClr val="1E293B"/>
                </a:solidFill>
                <a:latin typeface="Calibri"/>
              </a:rPr>
              <a:t> variants occupy the top 3 spots — the imbalance strategy barely matters for this model.</a:t>
            </a:r>
          </a:p>
          <a:p>
            <a:pPr>
              <a:lnSpc>
                <a:spcPct val="120000"/>
              </a:lnSpc>
              <a:spcAft>
                <a:spcPts val="1296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1">
                <a:solidFill>
                  <a:srgbClr val="1E293B"/>
                </a:solidFill>
                <a:latin typeface="Calibri"/>
              </a:rPr>
              <a:t>Random Forest</a:t>
            </a:r>
            <a:r>
              <a:rPr sz="1200" b="0">
                <a:solidFill>
                  <a:srgbClr val="1E293B"/>
                </a:solidFill>
                <a:latin typeface="Calibri"/>
              </a:rPr>
              <a:t> (class_weight) is closest challenger at 0.790 F1-Dropout.</a:t>
            </a:r>
          </a:p>
          <a:p>
            <a:pPr>
              <a:lnSpc>
                <a:spcPct val="120000"/>
              </a:lnSpc>
              <a:spcAft>
                <a:spcPts val="1296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1">
                <a:solidFill>
                  <a:srgbClr val="1E293B"/>
                </a:solidFill>
                <a:latin typeface="Calibri"/>
              </a:rPr>
              <a:t>AdaBoost (class_weight)</a:t>
            </a:r>
            <a:r>
              <a:rPr sz="1200" b="0">
                <a:solidFill>
                  <a:srgbClr val="1E293B"/>
                </a:solidFill>
                <a:latin typeface="Calibri"/>
              </a:rPr>
              <a:t> is the clear laggard at 0.731 — over-correcting for imbalance hurt more than it helped.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FULL METRIC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The Win Holds Across Every Metric, Not Just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F1 alone can hide trade-offs. The heatmap checks precision, recall and AUC together — Logistic Regression baseline leads or ties on nearly all of them.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03 ·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14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5394960" cy="354530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etri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29384"/>
            <a:ext cx="5285232" cy="34355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74693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Fig. 5 — Mean score per pipeline across five metrics, darker = higher.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1874519"/>
          <a:ext cx="515081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F1-Dropout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</a:rPr>
                        <a:t>LogisticRegression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RandomForest (class_weight)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AdaBoost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AdaBoost (class_weight)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0.846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3749039"/>
            <a:ext cx="51508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Precision (0.873) exceeding recall (0.845) for the winner means the model is slightly more cautious about calling a dropout than about catching one — a sensible default for an advising workflow, where a threshold can be tuned to trade one for the other.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DISCRIMINATIVE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Every Model Comfortably Beats Chance — Except One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ROC curves built from concatenated out-of-fold predictions across all 5 outer folds, for every pipeline at once.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03 ·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15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4846320" cy="388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29384"/>
            <a:ext cx="4736592" cy="3773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81298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Fig. 6 — ROC curves, all 9 pipelines overlaid.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965960"/>
            <a:ext cx="569945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8 of 9 pipelines</a:t>
            </a:r>
            <a:r>
              <a:rPr sz="1300" b="0">
                <a:solidFill>
                  <a:srgbClr val="1E293B"/>
                </a:solidFill>
                <a:latin typeface="Calibri"/>
              </a:rPr>
              <a:t> cluster tightly between </a:t>
            </a:r>
            <a:r>
              <a:rPr sz="1300" b="1">
                <a:solidFill>
                  <a:srgbClr val="1E293B"/>
                </a:solidFill>
                <a:latin typeface="Calibri"/>
              </a:rPr>
              <a:t>AUC 0.905–0.922</a:t>
            </a:r>
            <a:r>
              <a:rPr sz="1300" b="0">
                <a:solidFill>
                  <a:srgbClr val="1E293B"/>
                </a:solidFill>
                <a:latin typeface="Calibri"/>
              </a:rPr>
              <a:t> — a narrow, high-performing band.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Logistic Regression (baseline)</a:t>
            </a:r>
            <a:r>
              <a:rPr sz="1300" b="0">
                <a:solidFill>
                  <a:srgbClr val="1E293B"/>
                </a:solidFill>
                <a:latin typeface="Calibri"/>
              </a:rPr>
              <a:t> traces the outermost curve: </a:t>
            </a:r>
            <a:r>
              <a:rPr sz="1300" b="1">
                <a:solidFill>
                  <a:srgbClr val="1E293B"/>
                </a:solidFill>
                <a:latin typeface="Calibri"/>
              </a:rPr>
              <a:t>AUC = 0.922</a:t>
            </a:r>
            <a:r>
              <a:rPr sz="1300" b="0">
                <a:solidFill>
                  <a:srgbClr val="1E293B"/>
                </a:solidFill>
                <a:latin typeface="Calibri"/>
              </a:rPr>
              <a:t>, the best separation of Dropout vs Non-Dropout at every threshold.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AdaBoost (class_weight)</a:t>
            </a:r>
            <a:r>
              <a:rPr sz="1300" b="0">
                <a:solidFill>
                  <a:srgbClr val="1E293B"/>
                </a:solidFill>
                <a:latin typeface="Calibri"/>
              </a:rPr>
              <a:t> visibly peels away from the pack — </a:t>
            </a:r>
            <a:r>
              <a:rPr sz="1300" b="1">
                <a:solidFill>
                  <a:srgbClr val="1E293B"/>
                </a:solidFill>
                <a:latin typeface="Calibri"/>
              </a:rPr>
              <a:t>AUC = 0.842</a:t>
            </a:r>
            <a:r>
              <a:rPr sz="1300" b="0">
                <a:solidFill>
                  <a:srgbClr val="1E293B"/>
                </a:solidFill>
                <a:latin typeface="Calibri"/>
              </a:rPr>
              <a:t> — confirming the F1 leaderboard's weakest result independently.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0">
                <a:solidFill>
                  <a:srgbClr val="1E293B"/>
                </a:solidFill>
                <a:latin typeface="Calibri"/>
              </a:rPr>
              <a:t>A curve this close to the top-left corner means the model isn't just accurate at one operating point — it stays strong across the whole precision/recall trade-off range.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IS THE DIFFERENCE REAL?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A Statistical Tie Among the Top Pipelines —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Pairwise Wilcoxon signed-rank tests on per-fold F1 scores check whether any pipeline beats another by more than fold-to-fold noise.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03 ·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16 / 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74519"/>
          <a:ext cx="704087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Mean F1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Mean F1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4627A"/>
                          </a:solidFill>
                        </a:rPr>
                        <a:t>Significant?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LR (baseline) vs RandomForest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0463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LR (baseline) vs AdaBoost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0463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LR (baseline) vs LR (SMOTE)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0463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AdaBoost (class_weight) vs LR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0463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3749039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Full pairwise matrix: 36 comparisons across all 9 pipelines, α = 0.05. None reached significance.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74519"/>
            <a:ext cx="3504895" cy="3017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3139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WHY NOTHING IS “SIGNIFICANT”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77439"/>
            <a:ext cx="313913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With only 5 outer folds, a paired Wilcoxon test's smallest possible p-value is 0.0625 — it structurally cannot cross the 0.05 bar. So this isn't a null result; it's a power limit.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29000"/>
            <a:ext cx="1340510" cy="274320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 w="12700">
            <a:solidFill>
              <a:srgbClr val="B8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0F766E"/>
                </a:solidFill>
                <a:latin typeface="Calibri"/>
              </a:rPr>
              <a:t>DECISION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13913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When top pipelines are statistically indistinguishable, prefer the simplest, fastest, most interpretable one. Logistic Regression wins on those grounds too — and it happens to also post the best point estimate.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CONFUSION MATRIX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What the Winning Model Gets Right — and Misses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Aggregated out-of-fold predictions for Logistic Regression (baseline) across all 4,424 students.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03 ·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17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749039" cy="28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m_LogisticRegression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29384"/>
            <a:ext cx="3639311" cy="2694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7333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Fig. 7 — Confusion matrix, out-of-fold predictions, winning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74519"/>
            <a:ext cx="3306927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984248"/>
            <a:ext cx="29411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E9E5B"/>
                </a:solidFill>
                <a:latin typeface="Calibri"/>
              </a:rPr>
              <a:t>94.2%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441448"/>
            <a:ext cx="29411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Specificity — non-dropout students correctly left alone (2,828 / 3,003)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8967" y="1874519"/>
            <a:ext cx="3306927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1847" y="1984248"/>
            <a:ext cx="29411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E0463B"/>
                </a:solidFill>
                <a:latin typeface="Calibri"/>
              </a:rPr>
              <a:t>74.8%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2441448"/>
            <a:ext cx="29411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Recall on Dropout — at-risk students correctly flagged (1,063 / 1,421)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971800"/>
            <a:ext cx="3306927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081528"/>
            <a:ext cx="29411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563EB"/>
                </a:solidFill>
                <a:latin typeface="Calibri"/>
              </a:rPr>
              <a:t>85.9%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538728"/>
            <a:ext cx="29411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Precision on Dropout — of everyone flagged, this share truly dropped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8967" y="2971800"/>
            <a:ext cx="3306927" cy="960120"/>
          </a:xfrm>
          <a:prstGeom prst="roundRect">
            <a:avLst>
              <a:gd name="adj" fmla="val 9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1847" y="3081528"/>
            <a:ext cx="29411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358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3538728"/>
            <a:ext cx="29411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at-risk students still missed (false negatives) — the clearest target for future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160520"/>
            <a:ext cx="67967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In an advising context, a 175 false-alarm rate against a 358 missed-case rate suggests the decision threshold could be lowered to trade a few more false alarms for meaningfully fewer missed students — a one-line change once deployed.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EEAD4"/>
                </a:solidFill>
                <a:latin typeface="Calibri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 i="0">
                <a:solidFill>
                  <a:srgbClr val="16324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Explainability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C"/>
                </a:solidFill>
                <a:latin typeface="Calibri"/>
              </a:rPr>
              <a:t>A model that flags students without saying why is not actionable. SHAP and permutation importance turn the winning pipeline into a set of concrete, defensible reasons — globally and for individual students.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16553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147" y="5989320"/>
            <a:ext cx="2602153" cy="45720"/>
          </a:xfrm>
          <a:prstGeom prst="rect">
            <a:avLst/>
          </a:prstGeom>
          <a:solidFill>
            <a:srgbClr val="1C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03741" y="5989320"/>
            <a:ext cx="2602153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GLOBAL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Four Signals Explain Most of the Model's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Each dot is one student — colour is the feature's value, position is its pull toward or away from Dropout.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04 · 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19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5212080" cy="3904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hap_beeswarm_Logistic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30" y="1929384"/>
            <a:ext cx="4296419" cy="3794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83387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Fig. 8 — SHAP beeswarm, top 20 features, Logistic Regression.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965960"/>
            <a:ext cx="533369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Curricular units 2nd sem (approved)</a:t>
            </a:r>
            <a:r>
              <a:rPr sz="1300" b="0">
                <a:solidFill>
                  <a:srgbClr val="1E293B"/>
                </a:solidFill>
                <a:latin typeface="Calibri"/>
              </a:rPr>
              <a:t> dominates: few units approved (blue, low value) pushes hard toward Dropout; many approved (red) pushes hard away.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Curricular units 1st sem (approved)</a:t>
            </a:r>
            <a:r>
              <a:rPr sz="1300" b="0">
                <a:solidFill>
                  <a:srgbClr val="1E293B"/>
                </a:solidFill>
                <a:latin typeface="Calibri"/>
              </a:rPr>
              <a:t> repeats the same pattern one semester earlier — the risk signal is visible before the 2nd semester even ends.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Tuition fees up to date</a:t>
            </a:r>
            <a:r>
              <a:rPr sz="1300" b="0">
                <a:solidFill>
                  <a:srgbClr val="1E293B"/>
                </a:solidFill>
                <a:latin typeface="Calibri"/>
              </a:rPr>
              <a:t> is a clean binary switch: not paid up (blue) is one of the single strongest pushes toward Dropout in the entire dataset.</a:t>
            </a:r>
          </a:p>
          <a:p>
            <a:pPr>
              <a:lnSpc>
                <a:spcPct val="125000"/>
              </a:lnSpc>
              <a:spcAft>
                <a:spcPts val="1584"/>
              </a:spcAft>
            </a:pPr>
            <a:r>
              <a:rPr sz="1100">
                <a:solidFill>
                  <a:srgbClr val="0D9488"/>
                </a:solidFill>
                <a:latin typeface="Calibri"/>
              </a:rPr>
              <a:t>■  </a:t>
            </a:r>
            <a:r>
              <a:rPr sz="1300" b="1">
                <a:solidFill>
                  <a:srgbClr val="1E293B"/>
                </a:solidFill>
                <a:latin typeface="Calibri"/>
              </a:rPr>
              <a:t>Unemployment rate</a:t>
            </a:r>
            <a:r>
              <a:rPr sz="1300" b="0">
                <a:solidFill>
                  <a:srgbClr val="1E293B"/>
                </a:solidFill>
                <a:latin typeface="Calibri"/>
              </a:rPr>
              <a:t> at enrollment shows a smaller but real macro-economic effect layered on top of individual circumstances.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CONFIRMING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A Second, Independent Method Agrees Exactly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A different mechanism from SHAP: shuffle one feature, measure the F1-macro drop.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04 · 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20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5806440" cy="3904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eature_importance_permutation_Logistic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27" y="1929384"/>
            <a:ext cx="4759584" cy="3794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833872"/>
            <a:ext cx="5806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4627A"/>
                </a:solidFill>
                <a:latin typeface="Calibri"/>
              </a:rPr>
              <a:t>Fig. 9 — Permutation importance (10 repeats), Logistic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74519"/>
            <a:ext cx="4785055" cy="14173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011679"/>
            <a:ext cx="4419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SAME TOP 4, IN THE SAME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331720"/>
            <a:ext cx="44192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E293B"/>
                </a:solidFill>
                <a:latin typeface="Calibri"/>
              </a:rPr>
              <a:t>Shuffling </a:t>
            </a:r>
            <a:r>
              <a:rPr sz="1150" b="1">
                <a:solidFill>
                  <a:srgbClr val="1E293B"/>
                </a:solidFill>
                <a:latin typeface="Calibri"/>
              </a:rPr>
              <a:t>2nd-semester approved units</a:t>
            </a:r>
            <a:r>
              <a:rPr sz="1150" b="0">
                <a:solidFill>
                  <a:srgbClr val="1E293B"/>
                </a:solidFill>
                <a:latin typeface="Calibri"/>
              </a:rPr>
              <a:t> alone collapses F1-macro by </a:t>
            </a:r>
            <a:r>
              <a:rPr sz="1150" b="1">
                <a:solidFill>
                  <a:srgbClr val="1E293B"/>
                </a:solidFill>
                <a:latin typeface="Calibri"/>
              </a:rPr>
              <a:t>~0.19</a:t>
            </a:r>
            <a:r>
              <a:rPr sz="1150" b="0">
                <a:solidFill>
                  <a:srgbClr val="1E293B"/>
                </a:solidFill>
                <a:latin typeface="Calibri"/>
              </a:rPr>
              <a:t> — by far the single most load-bearing feature. 1st-semester approved units and tuition-fee status follow, matching SHAP's ranking exactly.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566160"/>
            <a:ext cx="478505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96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0">
                <a:solidFill>
                  <a:srgbClr val="1E293B"/>
                </a:solidFill>
                <a:latin typeface="Calibri"/>
              </a:rPr>
              <a:t>Two structurally different explanation methods converging on the same drivers is strong evidence the finding is </a:t>
            </a:r>
            <a:r>
              <a:rPr sz="1200" b="1">
                <a:solidFill>
                  <a:srgbClr val="1E293B"/>
                </a:solidFill>
                <a:latin typeface="Calibri"/>
              </a:rPr>
              <a:t>real</a:t>
            </a:r>
            <a:r>
              <a:rPr sz="1200" b="0">
                <a:solidFill>
                  <a:srgbClr val="1E293B"/>
                </a:solidFill>
                <a:latin typeface="Calibri"/>
              </a:rPr>
              <a:t>, not an artefact of one technique.</a:t>
            </a:r>
          </a:p>
          <a:p>
            <a:pPr>
              <a:lnSpc>
                <a:spcPct val="120000"/>
              </a:lnSpc>
              <a:spcAft>
                <a:spcPts val="1296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0">
                <a:solidFill>
                  <a:srgbClr val="1E293B"/>
                </a:solidFill>
                <a:latin typeface="Calibri"/>
              </a:rPr>
              <a:t>Everything past the top 4 features contributes a long, flat tail — individual demographic dummy variables (parental occupation codes, specific courses) matter little on their own.</a:t>
            </a:r>
          </a:p>
          <a:p>
            <a:pPr>
              <a:lnSpc>
                <a:spcPct val="120000"/>
              </a:lnSpc>
              <a:spcAft>
                <a:spcPts val="1296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1">
                <a:solidFill>
                  <a:srgbClr val="1E293B"/>
                </a:solidFill>
                <a:latin typeface="Calibri"/>
              </a:rPr>
              <a:t>Practical reading:</a:t>
            </a:r>
            <a:r>
              <a:rPr sz="1200" b="0">
                <a:solidFill>
                  <a:srgbClr val="1E293B"/>
                </a:solidFill>
                <a:latin typeface="Calibri"/>
              </a:rPr>
              <a:t> an early-warning system built on just these 3–4 signals would already capture most of the model's predictive power.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ONE STUDENT, ONE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From Global Patterns to an Individual Advising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252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4627A"/>
                </a:solidFill>
                <a:latin typeface="Calibri"/>
              </a:rPr>
              <a:t>The local counterpart to the last two slides: one waterfall for the single highest-risk student.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04 · 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21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5394960" cy="3904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hap_waterfall_Logistic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19" y="1929384"/>
            <a:ext cx="4997521" cy="3794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83387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4627A"/>
                </a:solidFill>
                <a:latin typeface="Calibri"/>
              </a:rPr>
              <a:t>Fig. 10 — SHAP waterfall, Student #7, model risk score = 6.54 (log-odds scale).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39"/>
            <a:ext cx="515081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0">
                <a:solidFill>
                  <a:srgbClr val="1E293B"/>
                </a:solidFill>
                <a:latin typeface="Calibri"/>
              </a:rPr>
              <a:t>Starting from the population baseline, three factors do almost all the work: </a:t>
            </a:r>
            <a:r>
              <a:rPr sz="1200" b="1">
                <a:solidFill>
                  <a:srgbClr val="1E293B"/>
                </a:solidFill>
                <a:latin typeface="Calibri"/>
              </a:rPr>
              <a:t>few 2nd-sem units approved</a:t>
            </a:r>
            <a:r>
              <a:rPr sz="1200" b="0">
                <a:solidFill>
                  <a:srgbClr val="1E293B"/>
                </a:solidFill>
                <a:latin typeface="Calibri"/>
              </a:rPr>
              <a:t> (+2.86), </a:t>
            </a:r>
            <a:r>
              <a:rPr sz="1200" b="1">
                <a:solidFill>
                  <a:srgbClr val="1E293B"/>
                </a:solidFill>
                <a:latin typeface="Calibri"/>
              </a:rPr>
              <a:t>tuition fees not up to date</a:t>
            </a:r>
            <a:r>
              <a:rPr sz="1200" b="0">
                <a:solidFill>
                  <a:srgbClr val="1E293B"/>
                </a:solidFill>
                <a:latin typeface="Calibri"/>
              </a:rPr>
              <a:t> (+2.18), and </a:t>
            </a:r>
            <a:r>
              <a:rPr sz="1200" b="1">
                <a:solidFill>
                  <a:srgbClr val="1E293B"/>
                </a:solidFill>
                <a:latin typeface="Calibri"/>
              </a:rPr>
              <a:t>few 1st-sem units approved</a:t>
            </a:r>
            <a:r>
              <a:rPr sz="1200" b="0">
                <a:solidFill>
                  <a:srgbClr val="1E293B"/>
                </a:solidFill>
                <a:latin typeface="Calibri"/>
              </a:rPr>
              <a:t> (+1.65).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0">
                <a:solidFill>
                  <a:srgbClr val="1E293B"/>
                </a:solidFill>
                <a:latin typeface="Calibri"/>
              </a:rPr>
              <a:t>These are the exact same three features that top the global SHAP and permutation-importance rankings — the model's reasoning for this one student is internally consistent with its reasoning overall.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1000">
                <a:solidFill>
                  <a:srgbClr val="0D9488"/>
                </a:solidFill>
                <a:latin typeface="Calibri"/>
              </a:rPr>
              <a:t>■  </a:t>
            </a:r>
            <a:r>
              <a:rPr sz="1200" b="0">
                <a:solidFill>
                  <a:srgbClr val="1E293B"/>
                </a:solidFill>
                <a:latin typeface="Calibri"/>
              </a:rPr>
              <a:t>This is the output an advisor would actually see: not just “high risk”, but </a:t>
            </a:r>
            <a:r>
              <a:rPr sz="1200" b="1">
                <a:solidFill>
                  <a:srgbClr val="1E293B"/>
                </a:solidFill>
                <a:latin typeface="Calibri"/>
              </a:rPr>
              <a:t>which three facts</a:t>
            </a:r>
            <a:r>
              <a:rPr sz="1200" b="0">
                <a:solidFill>
                  <a:srgbClr val="1E293B"/>
                </a:solidFill>
                <a:latin typeface="Calibri"/>
              </a:rPr>
              <a:t> to raise in a conversation and what a support plan should target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160520"/>
            <a:ext cx="5150815" cy="14173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4297679"/>
            <a:ext cx="47850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WHY THIS MATTERS FOR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617720"/>
            <a:ext cx="47850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4627A"/>
                </a:solidFill>
                <a:latin typeface="Calibri"/>
              </a:rPr>
              <a:t>A black-box score invites distrust from advisors and students alike. A per-student reason list is what turns a model into a tool people will actually 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What This Project Actually Shows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04 ·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54298" cy="19659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581912"/>
            <a:ext cx="1040587" cy="274320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 w="12700">
            <a:solidFill>
              <a:srgbClr val="B8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0F766E"/>
                </a:solidFill>
                <a:latin typeface="Calibri"/>
              </a:rPr>
              <a:t>FINDING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308853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Simple beats fancy, honestly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30885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A plain Logistic Regression, with no imbalance correction at all, statistically ties or beats Random Forest and AdaBoost under nested CV. Complexity bought nothing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417320"/>
            <a:ext cx="3454298" cy="19659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1578" y="1581912"/>
            <a:ext cx="1040587" cy="27432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CDD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Calibri"/>
              </a:rPr>
              <a:t>FINDING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1984248"/>
            <a:ext cx="308853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Risk is legible, not mysterious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2606040"/>
            <a:ext cx="30885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Two-thirds of the model's decision power reduces to three facts: units completed each semester, and whether tuition is paid on time. Both are known before a crisis develops.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1417320"/>
            <a:ext cx="3454298" cy="19659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34476" y="1581912"/>
            <a:ext cx="1040587" cy="274320"/>
          </a:xfrm>
          <a:prstGeom prst="roundRect">
            <a:avLst>
              <a:gd name="adj" fmla="val 50000"/>
            </a:avLst>
          </a:prstGeom>
          <a:solidFill>
            <a:srgbClr val="FDF1E0"/>
          </a:solidFill>
          <a:ln w="12700">
            <a:solidFill>
              <a:srgbClr val="F8DC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D97706"/>
                </a:solidFill>
                <a:latin typeface="Calibri"/>
              </a:rPr>
              <a:t>FINDING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476" y="1984248"/>
            <a:ext cx="308853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74.8% recall leaves room to 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4476" y="2606040"/>
            <a:ext cx="30885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1 in 4 dropout cases is still missed at the default threshold. That threshold — not the model itself — is the cheapest next lever to pull.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66160"/>
            <a:ext cx="10820095" cy="1280160"/>
          </a:xfrm>
          <a:prstGeom prst="roundRect">
            <a:avLst>
              <a:gd name="adj" fmla="val 5000"/>
            </a:avLst>
          </a:prstGeom>
          <a:solidFill>
            <a:srgbClr val="EE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7033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RECOMMENDED INTERVENTION TRIGGERS, IN PRIORITY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251071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1. Zero / near-zero units approved after semester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6553" y="4069080"/>
            <a:ext cx="251071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2. Tuition fees falling into arrears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4427" y="4069080"/>
            <a:ext cx="251071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3. Debtor status flagged at enrollment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2301" y="4069080"/>
            <a:ext cx="251071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4. No scholarship despite financial strain signals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172A"/>
                </a:solidFill>
                <a:latin typeface="Calibri"/>
              </a:rPr>
              <a:t>Where to Push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419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4627A"/>
                </a:solidFill>
                <a:latin typeface="Calibri"/>
              </a:rPr>
              <a:t>STUDENT DROPOUT PREDICTION  |  Slim Jabou &amp; Klajdi Barci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64190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04 ·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9AA5B5"/>
                </a:solidFill>
                <a:latin typeface="Calibri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72887" cy="356616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Known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4907127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Single institution, single country (Portugal) — thresholds and effect sizes may not transfer directly elsewhere.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5 outer folds limit statistical power; the Wilcoxon test cannot confirm significance even where differences look real.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Reported results use the full-year feature set (1st + 2nd semester); a stricter, week-1-of-term early-warning score would rely on 1st-semester-only features and likely score somewhat lower.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SHAP local/global plots are computed on a fixed sample of students for computational efficiency, not the full 4,424.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17320"/>
            <a:ext cx="5272887" cy="356616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5887" y="1581912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Natural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1984248"/>
            <a:ext cx="4907127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Tune the decision threshold explicitly against an institution's real cost ratio of a missed dropout vs. a false alarm.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Add behavioural signals (LMS engagement, attendance) beyond registrar data to catch disengagement earlier.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Validate the early-intervention (1st-semester-only) configuration the framework already supports, for true week-1 scoring.</a:t>
            </a:r>
          </a:p>
          <a:p>
            <a:pPr>
              <a:lnSpc>
                <a:spcPct val="120000"/>
              </a:lnSpc>
              <a:spcAft>
                <a:spcPts val="1152"/>
              </a:spcAft>
            </a:pPr>
            <a:r>
              <a:rPr sz="900">
                <a:solidFill>
                  <a:srgbClr val="0D9488"/>
                </a:solidFill>
                <a:latin typeface="Calibri"/>
              </a:rPr>
              <a:t>■  </a:t>
            </a:r>
            <a:r>
              <a:rPr sz="1100" b="0">
                <a:solidFill>
                  <a:srgbClr val="1E293B"/>
                </a:solidFill>
                <a:latin typeface="Calibri"/>
              </a:rPr>
              <a:t>Re-run the KNN / Naive Bayes screen and gradient-boosted trees (e.g. XGBoost) alongside the current finalists as a final robustness check.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0604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5EEAD4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1448" y="36576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AAB4C8"/>
                </a:solidFill>
                <a:latin typeface="Calibri"/>
              </a:rPr>
              <a:t>Student Dropout Prediction — a leakage-safe, nested-CV benchmark with explainable, actionable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44348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Slim Jabou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44348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Klajdi Barci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3532</Words>
  <Application>Microsoft Office PowerPoint</Application>
  <PresentationFormat>Grand écran</PresentationFormat>
  <Paragraphs>365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Slim Jabou</cp:lastModifiedBy>
  <cp:revision>2</cp:revision>
  <dcterms:created xsi:type="dcterms:W3CDTF">2013-01-27T09:14:16Z</dcterms:created>
  <dcterms:modified xsi:type="dcterms:W3CDTF">2026-07-04T03:59:35Z</dcterms:modified>
  <cp:category/>
</cp:coreProperties>
</file>